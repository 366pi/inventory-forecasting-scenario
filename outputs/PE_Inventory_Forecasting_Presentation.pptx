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 autoAdjust="0"/>
    <p:restoredTop sz="94849" autoAdjust="0"/>
  </p:normalViewPr>
  <p:slideViewPr>
    <p:cSldViewPr snapToGrid="0" snapToObjects="1">
      <p:cViewPr varScale="1">
        <p:scale>
          <a:sx n="80" d="100"/>
          <a:sy n="80" d="100"/>
        </p:scale>
        <p:origin x="3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</a:rPr>
              <a:t>PE Inventory Forecasting &amp; Planning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D9E6F5"/>
                </a:solidFill>
              </a:rPr>
              <a:t>Predictive Analytics for Spare-Part Demand, Stock Planning &amp;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7F0E"/>
                </a:solidFill>
              </a:rPr>
              <a:t>Built with Python · Prophet · SQL Server ·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</a:rPr>
              <a:t>Project Walkthrough  | 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What we'll walk through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Problem Statement &amp; Business Goal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Technology Stack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End-to-End System Flow (updated — includes Stock Movement layer)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Core Features — Forecasting Engine (Prophet)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Core Features — PM Demand Integration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Core Features — Inventory Planning Engine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Core Features — Risk &amp; Procurement Alert Engine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Core Features — Scenario Analysis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NEW — Stock Movement Analysis (stock-in &amp; stock-out patterns)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Streamlit Dashboard — 6-Page Walkthrough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All Columns &amp; Formulas (3 parts incl. Stock Movement columns)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Forecast Accuracy Metrics (MAE / RMSE / MAPE)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50" b="1">
                <a:solidFill>
                  <a:srgbClr val="2E75B6"/>
                </a:solidFill>
              </a:rPr>
              <a:t>▸ </a:t>
            </a:r>
            <a:r>
              <a:rPr sz="1550">
                <a:solidFill>
                  <a:srgbClr val="292929"/>
                </a:solidFill>
              </a:rPr>
              <a:t>Outputs, Exports &amp; Logging  |  Key Benefits &amp;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FFFFFF"/>
                </a:solidFill>
              </a:rPr>
              <a:t>Problem Statement &amp; Business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11480"/>
          </a:xfrm>
          <a:prstGeom prst="roundRect">
            <a:avLst>
              <a:gd name="adj" fmla="val 4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212080" cy="1606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92929"/>
                </a:solidFill>
              </a:rPr>
              <a:t>▸</a:t>
            </a:r>
            <a:r>
              <a:rPr lang="en-US" sz="1300" dirty="0">
                <a:solidFill>
                  <a:srgbClr val="292929"/>
                </a:solidFill>
              </a:rPr>
              <a:t>The challenge is to build a forecasting solution that can estimate future stock requirements using: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292929"/>
                </a:solidFill>
              </a:rPr>
              <a:t>historical stock movement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292929"/>
                </a:solidFill>
              </a:rPr>
              <a:t>stock-in and stock-out patterns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292929"/>
                </a:solidFill>
              </a:rPr>
              <a:t>preventive maintenance pipeline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292929"/>
                </a:solidFill>
              </a:rPr>
              <a:t>planned maintenance requirements</a:t>
            </a:r>
            <a:endParaRPr sz="1300" dirty="0">
              <a:solidFill>
                <a:srgbClr val="292929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411480"/>
          </a:xfrm>
          <a:prstGeom prst="roundRect">
            <a:avLst>
              <a:gd name="adj" fmla="val 4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The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92929"/>
                </a:solidFill>
              </a:rPr>
              <a:t>▸ Build a forecasting workflow that predicts future stock requirements.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92929"/>
                </a:solidFill>
              </a:rPr>
              <a:t>▸ Combine historical consumption + stock movement patterns + PM pipeline.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92929"/>
                </a:solidFill>
              </a:rPr>
              <a:t>▸ Help PE reduce shortages, avoid overstocking, and plan procurement with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201400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20140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What Success Looks 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10927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Accurate item-level demand forecasts (30/60/90-day horizons) generated automatically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A single combined view of organic demand + planned-maintenance demand per item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Historical stock-in vs stock-out pattern analysis across 7 years of data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Clear prioritized signals — which items are at risk, what to order, how urgently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90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The tools powering each layer of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70332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Language &amp;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Python 3.12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pandas / numpy — data wrangling &amp; numerical 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70332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Forecasting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202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Facebook Prophet — time-series demand forecasting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Trains per-item models with yearly &amp; weekly seasonality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4173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38744" y="1417320"/>
            <a:ext cx="3703320" cy="411480"/>
          </a:xfrm>
          <a:prstGeom prst="roundRect">
            <a:avLst>
              <a:gd name="adj" fmla="val 4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Database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19202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Microsoft SQL Server — source of truth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</a:t>
            </a:r>
            <a:r>
              <a:rPr sz="1150" dirty="0" err="1">
                <a:solidFill>
                  <a:srgbClr val="292929"/>
                </a:solidFill>
              </a:rPr>
              <a:t>SQLAlchemy</a:t>
            </a:r>
            <a:r>
              <a:rPr sz="1150" dirty="0">
                <a:solidFill>
                  <a:srgbClr val="292929"/>
                </a:solidFill>
              </a:rPr>
              <a:t> + </a:t>
            </a:r>
            <a:r>
              <a:rPr sz="1150" dirty="0" err="1">
                <a:solidFill>
                  <a:srgbClr val="292929"/>
                </a:solidFill>
              </a:rPr>
              <a:t>pyodbc</a:t>
            </a:r>
            <a:r>
              <a:rPr sz="1150" dirty="0">
                <a:solidFill>
                  <a:srgbClr val="292929"/>
                </a:solidFill>
              </a:rPr>
              <a:t> — connection &amp; queries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python-</a:t>
            </a:r>
            <a:r>
              <a:rPr sz="1150" dirty="0" err="1">
                <a:solidFill>
                  <a:srgbClr val="292929"/>
                </a:solidFill>
              </a:rPr>
              <a:t>dotenv</a:t>
            </a:r>
            <a:r>
              <a:rPr sz="1150" dirty="0">
                <a:solidFill>
                  <a:srgbClr val="292929"/>
                </a:solidFill>
              </a:rPr>
              <a:t> — secure credential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3703320" cy="411480"/>
          </a:xfrm>
          <a:prstGeom prst="roundRect">
            <a:avLst>
              <a:gd name="adj" fmla="val 4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Dashboard /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</a:t>
            </a:r>
            <a:r>
              <a:rPr sz="1150" dirty="0" err="1">
                <a:solidFill>
                  <a:srgbClr val="292929"/>
                </a:solidFill>
              </a:rPr>
              <a:t>Streamlit</a:t>
            </a:r>
            <a:r>
              <a:rPr sz="1150" dirty="0">
                <a:solidFill>
                  <a:srgbClr val="292929"/>
                </a:solidFill>
              </a:rPr>
              <a:t> — interactive 6-page web dashboard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Plotly (Express + Graph Objects) — charts &amp; visualizations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9319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70832" y="3931920"/>
            <a:ext cx="3703320" cy="411480"/>
          </a:xfrm>
          <a:prstGeom prst="roundRect">
            <a:avLst>
              <a:gd name="adj" fmla="val 4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Outputs &amp;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434840"/>
            <a:ext cx="3429000" cy="522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</a:t>
            </a:r>
            <a:r>
              <a:rPr sz="1150" dirty="0" err="1">
                <a:solidFill>
                  <a:srgbClr val="292929"/>
                </a:solidFill>
              </a:rPr>
              <a:t>openpyxl</a:t>
            </a:r>
            <a:r>
              <a:rPr sz="1150" dirty="0">
                <a:solidFill>
                  <a:srgbClr val="292929"/>
                </a:solidFill>
              </a:rPr>
              <a:t> — Excel export (.xlsx)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sz="1150" dirty="0">
              <a:solidFill>
                <a:srgbClr val="292929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38744" y="39319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38744" y="3931920"/>
            <a:ext cx="3703320" cy="411480"/>
          </a:xfrm>
          <a:prstGeom prst="roundRect">
            <a:avLst>
              <a:gd name="adj" fmla="val 4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434840"/>
            <a:ext cx="3429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Python logging module — pipeline &amp; error logs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In-memory caching — faster repeated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48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End-to-End System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Main forecasting pipeline + independent Stock Movement analytical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7151" y="1417320"/>
            <a:ext cx="1627632" cy="1005840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1. Load Historical</a:t>
            </a:r>
            <a:br/>
            <a:r>
              <a:rPr sz="1150" b="1">
                <a:solidFill>
                  <a:srgbClr val="FFFFFF"/>
                </a:solidFill>
              </a:rPr>
              <a:t>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9103" y="1417320"/>
            <a:ext cx="1627632" cy="1005840"/>
          </a:xfrm>
          <a:prstGeom prst="roundRect">
            <a:avLst>
              <a:gd name="adj" fmla="val 18000"/>
            </a:avLst>
          </a:prstGeom>
          <a:solidFill>
            <a:srgbClr val="FF7F0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2. Forecast Demand</a:t>
            </a:r>
            <a:br/>
            <a:r>
              <a:rPr sz="1150" b="1">
                <a:solidFill>
                  <a:srgbClr val="FFFFFF"/>
                </a:solidFill>
              </a:rPr>
              <a:t>(Prophet)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31055" y="1417320"/>
            <a:ext cx="1627632" cy="1005840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3. Add PM Demand</a:t>
            </a:r>
            <a:br/>
            <a:r>
              <a:rPr sz="1150" b="1">
                <a:solidFill>
                  <a:srgbClr val="FFFFFF"/>
                </a:solidFill>
              </a:rPr>
              <a:t>(pm_engine)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33007" y="1417320"/>
            <a:ext cx="1627632" cy="1005840"/>
          </a:xfrm>
          <a:prstGeom prst="roundRect">
            <a:avLst>
              <a:gd name="adj" fmla="val 18000"/>
            </a:avLst>
          </a:prstGeom>
          <a:solidFill>
            <a:srgbClr val="FF7F0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4. Inventory Planning</a:t>
            </a:r>
            <a:br/>
            <a:r>
              <a:rPr sz="1150" b="1">
                <a:solidFill>
                  <a:srgbClr val="FFFFFF"/>
                </a:solidFill>
              </a:rPr>
              <a:t>(stock vs. need)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4959" y="1417320"/>
            <a:ext cx="1627632" cy="1005840"/>
          </a:xfrm>
          <a:prstGeom prst="roundRect">
            <a:avLst>
              <a:gd name="adj" fmla="val 18000"/>
            </a:avLst>
          </a:prstGeom>
          <a:solidFill>
            <a:srgbClr val="D627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5. Risk &amp; Alerts</a:t>
            </a:r>
            <a:br/>
            <a:r>
              <a:rPr sz="1150" b="1">
                <a:solidFill>
                  <a:srgbClr val="FFFFFF"/>
                </a:solidFill>
              </a:rPr>
              <a:t>(alert_engine)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36911" y="1417320"/>
            <a:ext cx="1627632" cy="1005840"/>
          </a:xfrm>
          <a:prstGeom prst="roundRect">
            <a:avLst>
              <a:gd name="adj" fmla="val 18000"/>
            </a:avLst>
          </a:prstGeom>
          <a:solidFill>
            <a:srgbClr val="2CA02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6. Dashboard</a:t>
            </a:r>
            <a:br/>
            <a:r>
              <a:rPr sz="1150" b="1">
                <a:solidFill>
                  <a:srgbClr val="FFFFFF"/>
                </a:solidFill>
              </a:rPr>
              <a:t>&amp; Exports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175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5711" y="249631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dirty="0" err="1">
                <a:solidFill>
                  <a:srgbClr val="6B6B6B"/>
                </a:solidFill>
              </a:rPr>
              <a:t>forecast_ready_dataset</a:t>
            </a:r>
            <a:endParaRPr sz="950" b="0" i="1" dirty="0">
              <a:solidFill>
                <a:srgbClr val="6B6B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7663" y="249631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→ forecast_output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9615" y="249631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pm_demand_output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1567" y="249631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Stock_Register</a:t>
            </a:r>
          </a:p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(latest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3519" y="249631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CRITICAL/HIGH</a:t>
            </a:r>
          </a:p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WARNING/NORMAL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5471" y="249631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5 pipeline pages</a:t>
            </a:r>
          </a:p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6B6B"/>
                </a:solidFill>
              </a:rPr>
              <a:t>CSV/Excel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26080"/>
            <a:ext cx="11277295" cy="3657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7B83"/>
                </a:solidFill>
              </a:rPr>
              <a:t>INDEPENDENT ANALYTICAL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429000"/>
            <a:ext cx="11277295" cy="1097280"/>
          </a:xfrm>
          <a:prstGeom prst="roundRect">
            <a:avLst>
              <a:gd name="adj" fmla="val 10000"/>
            </a:avLst>
          </a:prstGeom>
          <a:solidFill>
            <a:srgbClr val="00555C"/>
          </a:solidFill>
          <a:ln w="25400">
            <a:solidFill>
              <a:srgbClr val="00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Step 7 — Stock Movement Analysis  (services/stock_movement.py)</a:t>
            </a:r>
          </a:p>
          <a:p>
            <a:pPr algn="l">
              <a:spcBef>
                <a:spcPts val="400"/>
              </a:spcBef>
            </a:pPr>
            <a:r>
              <a:rPr sz="1100" dirty="0">
                <a:solidFill>
                  <a:srgbClr val="D9E6F5"/>
                </a:solidFill>
              </a:rPr>
              <a:t>Reads full 7-year history of </a:t>
            </a:r>
            <a:r>
              <a:rPr sz="1100" dirty="0" err="1">
                <a:solidFill>
                  <a:srgbClr val="D9E6F5"/>
                </a:solidFill>
              </a:rPr>
              <a:t>Stock_Register</a:t>
            </a:r>
            <a:r>
              <a:rPr sz="1100" dirty="0">
                <a:solidFill>
                  <a:srgbClr val="D9E6F5"/>
                </a:solidFill>
              </a:rPr>
              <a:t> (115,628 rows) independently — monthly IN vs OUT patterns · net movement · replenishment ratio · top consuming items · replenishment health for all 1,625 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292929"/>
                </a:solidFill>
              </a:rPr>
              <a:t>Stock_Register feeds Step 4 (latest snapshot only)  AND  Step 7 (full 7-year history) — two different reads, two different purposes.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292929"/>
                </a:solidFill>
              </a:rPr>
              <a:t>Key distinction: Steps 1–6 answer  "What will we need in the future?"  |  Step 7 answers  "How has stock actually been flowing historically?"</a:t>
            </a:r>
          </a:p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292929"/>
                </a:solidFill>
              </a:rPr>
              <a:t>Step 7 is completely independent — not triggered by Run Pipeline, not affected by Horizon/Scenario/Max Items.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1 — Historical Demand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services/data_loader.py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Connects to SQL Server and loads the entire forecast_ready_dataset in a single query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</a:rPr>
              <a:t>–  </a:t>
            </a:r>
            <a:r>
              <a:rPr sz="1500">
                <a:solidFill>
                  <a:srgbClr val="292929"/>
                </a:solidFill>
              </a:rPr>
              <a:t>Caches the data in memory — loaded once per session, reused everywhere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Provides flexible aggregation: view demand by day, week, or month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Lets the pipeline filter by a specific item on demand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Exposes the list of all available items for the dashboard item selector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4114800" cy="2926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411480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2057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A clean reusable data layer means every module works from the same consistent validated dataset.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Caching avoids hitting the database repeatedly — faster pipeline and snappier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2 — Demand Forecasting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services/forecasting.py — powered by Facebook Prophet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2E75B6"/>
                </a:solidFill>
              </a:rPr>
              <a:t>▸ </a:t>
            </a:r>
            <a:r>
              <a:rPr sz="1450">
                <a:solidFill>
                  <a:srgbClr val="292929"/>
                </a:solidFill>
              </a:rPr>
              <a:t>Trains a dedicated Prophet model per spare part using its demand history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450" b="0">
                <a:solidFill>
                  <a:srgbClr val="6B6B6B"/>
                </a:solidFill>
              </a:rPr>
              <a:t>–  </a:t>
            </a:r>
            <a:r>
              <a:rPr sz="1450">
                <a:solidFill>
                  <a:srgbClr val="292929"/>
                </a:solidFill>
              </a:rPr>
              <a:t>Learns yearly &amp; weekly seasonality patterns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2E75B6"/>
                </a:solidFill>
              </a:rPr>
              <a:t>▸ </a:t>
            </a:r>
            <a:r>
              <a:rPr sz="1450">
                <a:solidFill>
                  <a:srgbClr val="292929"/>
                </a:solidFill>
              </a:rPr>
              <a:t>Forecasts demand for 30 / 60 / 90 days ahead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2E75B6"/>
                </a:solidFill>
              </a:rPr>
              <a:t>▸ </a:t>
            </a:r>
            <a:r>
              <a:rPr sz="1450">
                <a:solidFill>
                  <a:srgbClr val="292929"/>
                </a:solidFill>
              </a:rPr>
              <a:t>Produces a predicted value plus a confidence range (min / max expected demand)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2E75B6"/>
                </a:solidFill>
              </a:rPr>
              <a:t>▸ </a:t>
            </a:r>
            <a:r>
              <a:rPr sz="1450">
                <a:solidFill>
                  <a:srgbClr val="292929"/>
                </a:solidFill>
              </a:rPr>
              <a:t>Negative predictions are clamped to zero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2E75B6"/>
                </a:solidFill>
              </a:rPr>
              <a:t>▸ </a:t>
            </a:r>
            <a:r>
              <a:rPr sz="1450">
                <a:solidFill>
                  <a:srgbClr val="292929"/>
                </a:solidFill>
              </a:rPr>
              <a:t>Accuracy check: trains on 80% of history, tests against 20%, reports MAE/RMSE/MAPE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50" b="1">
                <a:solidFill>
                  <a:srgbClr val="2E75B6"/>
                </a:solidFill>
              </a:rPr>
              <a:t>▸ </a:t>
            </a:r>
            <a:r>
              <a:rPr sz="1450">
                <a:solidFill>
                  <a:srgbClr val="292929"/>
                </a:solidFill>
              </a:rPr>
              <a:t>Saves all forecast results to the forecast_output database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54480"/>
            <a:ext cx="4297680" cy="4206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06640" y="1554480"/>
            <a:ext cx="429768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Why Prophet?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574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Designed for business time-series with seasonality and trends.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Handles missing data and outliers automatically.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Outputs an interpretable confidence band alongside predictions.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FFFFFF"/>
                </a:solidFill>
              </a:rPr>
              <a:t>Feature 3 — Preventive Maintenance (PM) Demand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2301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D9E6F5"/>
                </a:solidFill>
              </a:rPr>
              <a:t>services/pm_engine.py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92929"/>
                </a:solidFill>
              </a:rPr>
              <a:t>Spare parts aren't only consumed by unpredictable organic demand — scheduled maintenance visits also consume parts. This module ensures BOTH sources are accounted for.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606040"/>
            <a:ext cx="7315200" cy="1051560"/>
          </a:xfrm>
          <a:prstGeom prst="roundRect">
            <a:avLst>
              <a:gd name="adj" fmla="val 25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combined_projected_demand  =  forecast_demand  +  pm_demand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Loads planned PM demand per item from the pm_demand_output table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Sums each item's daily forecasted predictions into a single total (forecast_demand)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Adds the two demand sources to produce one true total expected need per item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</a:rPr>
              <a:t>▸ </a:t>
            </a:r>
            <a:r>
              <a:rPr sz="1500">
                <a:solidFill>
                  <a:srgbClr val="292929"/>
                </a:solidFill>
              </a:rPr>
              <a:t>This combined figure is the baseline for all downstream planning calculations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4 — Inventory Planning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services/inventory_engine.py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92929"/>
                </a:solidFill>
              </a:rPr>
              <a:t>Combines current stock with projected demand to compute a complete, decision-ready plan per item: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available_stock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048256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Latest stock count per item, fetched from Stock_Register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15184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daily_avg_demand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forecast_demand ÷ horizon_days — spreads total demand per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18688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stock_coverage_days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55264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available_stock ÷ daily_avg_demand — how many days stock will last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22192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projected_shortfall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5876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available_stock − combined_projected_demand — negative = shortage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25696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safety_stock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46227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forecast_demand × 0.20 — 20% buffer for uncertainty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recommended_reorder_qty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065776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combined_projected_demand − available_stock (floored at 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32704"/>
            <a:ext cx="2651760" cy="47548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final_reorder_qty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92929"/>
                </a:solidFill>
              </a:rPr>
              <a:t>recommended_reorder_qty + safety_stock — actual order suggestion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5 — Risk &amp; Procurement Alert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services/alert_engine.py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92929"/>
                </a:solidFill>
              </a:rPr>
              <a:t>Translates raw planning numbers into clear, color-coded signals planners can act on instantly: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CRITICAL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Stock at or below zero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05740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HIGH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Stock less than total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05740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0C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92929"/>
                </a:solidFill>
              </a:rPr>
              <a:t>WARNING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292929"/>
                </a:solidFill>
              </a:rPr>
              <a:t>Stock less than half of demand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205740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NORMAL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Stock covers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E75B6"/>
                </a:solidFill>
              </a:rPr>
              <a:t>▸ </a:t>
            </a:r>
            <a:r>
              <a:rPr sz="1400">
                <a:solidFill>
                  <a:srgbClr val="292929"/>
                </a:solidFill>
              </a:rPr>
              <a:t>Each risk level maps to a clear action_status label: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CRITICAL → CRITICAL_SHORTAGE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HIGH/WARNING → LOW_STOCK_WARNING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NORMAL → SUFFICIENT_STOCK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6576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3657600"/>
            <a:ext cx="5486400" cy="411480"/>
          </a:xfrm>
          <a:prstGeom prst="roundRect">
            <a:avLst>
              <a:gd name="adj" fmla="val 4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Procurement Priority — HIGH / MEDIUM /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CRITICAL risk → automatically HIGH priority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HIGH risk OR less than 30 days of stock coverage → MEDIUM priority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Otherwise → LOW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6 — Scenario Analysis (What-If Simulation)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Built into main.py &amp; the dashboard sidebar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92929"/>
                </a:solidFill>
              </a:rPr>
              <a:t>Lets the planning team stress-test the plan against different future conditions before committing to real purchase decisions: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52044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demand × 1.0   |   PM × 1.0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Baseline — current expected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774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2377440"/>
            <a:ext cx="352044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+20%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demand × 1.2   |   PM × 1.0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What if organic usage spikes by 20%?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38160" y="2377440"/>
            <a:ext cx="3520440" cy="411480"/>
          </a:xfrm>
          <a:prstGeom prst="roundRect">
            <a:avLst>
              <a:gd name="adj" fmla="val 4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+50% PM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demand × 1.0   |   PM × 1.5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What if maintenance workload grows by 50%?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</a:rPr>
              <a:t>▸ </a:t>
            </a:r>
            <a:r>
              <a:rPr sz="1400">
                <a:solidFill>
                  <a:srgbClr val="292929"/>
                </a:solidFill>
              </a:rPr>
              <a:t>Multipliers applied to predicted_demand and pm_demand AFTER Prophet trains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</a:rPr>
              <a:t>▸ </a:t>
            </a:r>
            <a:r>
              <a:rPr sz="1400">
                <a:solidFill>
                  <a:srgbClr val="292929"/>
                </a:solidFill>
              </a:rPr>
              <a:t>Re-running under each scenario instantly shows how risk levels and reorder quantities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7 — Stock Movement Analysis  (NEW)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services/stock_movement.py — independent analytical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92929"/>
                </a:solidFill>
              </a:rPr>
              <a:t>Reads the FULL 7-year history of Stock_Register (115,628 transactions, 2018–2026, 1,625 items) — analyzing every IN and OUT event that ever happened, month by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577840" cy="10241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5577840" cy="411480"/>
          </a:xfrm>
          <a:prstGeom prst="roundRect">
            <a:avLst>
              <a:gd name="adj" fmla="val 4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get_overall_stats()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High-level KPIs — total IN/OUT transaction counts, total qty moved, date range, unique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48840"/>
            <a:ext cx="5577840" cy="10241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557784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load_monthly_movement(item)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Per-item monthly IN vs OUT — total_in, total_out, net_movement, replenishment_ratio per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5577840" cy="10241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557784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get_top_consuming_items(n)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Top N items ranked by total OUT quantity across all time — identifies heaviest consumers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337560"/>
            <a:ext cx="5577840" cy="10241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3337560"/>
            <a:ext cx="5577840" cy="411480"/>
          </a:xfrm>
          <a:prstGeom prst="roundRect">
            <a:avLst>
              <a:gd name="adj" fmla="val 4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load_movement_summary()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All items: avg_monthly_in, avg_monthly_out, avg_net_movement, replenishment_ratio, status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92929"/>
                </a:solidFill>
              </a:rPr>
              <a:t>Key difference from the main pipeline: Steps 1–6 ask 'What will we need in the future?' — Stock Movement asks 'How has stock actually flowed historically?'</a:t>
            </a:r>
          </a:p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92929"/>
                </a:solidFill>
              </a:rPr>
              <a:t>Not triggered by Run Pipeline. Not affected by Horizon, Scenario, or Max Items. Loads directly from Stock_Register on page visit.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8 —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dashboard/app.py — 6-page interactive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</a:rPr>
              <a:t>▸ </a:t>
            </a:r>
            <a:r>
              <a:rPr sz="1400">
                <a:solidFill>
                  <a:srgbClr val="292929"/>
                </a:solidFill>
              </a:rPr>
              <a:t>Sidebar controls configure the pipeline run: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Forecast Horizon — 30 / 60 / 90 days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Scenario — Normal / +20% Demand / +50% PM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Max Items to Process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6B6B6B"/>
                </a:solidFill>
              </a:rPr>
              <a:t>–  </a:t>
            </a:r>
            <a:r>
              <a:rPr sz="1400">
                <a:solidFill>
                  <a:srgbClr val="292929"/>
                </a:solidFill>
              </a:rPr>
              <a:t>Run Pipeline button — executes Steps 1–6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</a:rPr>
              <a:t>▸ </a:t>
            </a:r>
            <a:r>
              <a:rPr sz="1400">
                <a:solidFill>
                  <a:srgbClr val="292929"/>
                </a:solidFill>
              </a:rPr>
              <a:t>Results cached in session — page switches don't re-run pipeline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E75B6"/>
                </a:solidFill>
              </a:rPr>
              <a:t>▸ </a:t>
            </a:r>
            <a:r>
              <a:rPr sz="1400">
                <a:solidFill>
                  <a:srgbClr val="292929"/>
                </a:solidFill>
              </a:rPr>
              <a:t>Stock Movement page loads independently — no Run Pipeline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6304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80760" y="1463040"/>
            <a:ext cx="566928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📦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292929"/>
                </a:solidFill>
              </a:rPr>
              <a:t>▸ KPI cards · Risk pie chart · Procurement bar chart · Summary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22576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80760" y="2322576"/>
            <a:ext cx="566928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📈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25496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292929"/>
                </a:solidFill>
              </a:rPr>
              <a:t>▸ Per-item forecast chart with confidence band · MAE/RMSE/MAPE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182112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80760" y="3182112"/>
            <a:ext cx="566928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🗂 Inventory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85032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292929"/>
                </a:solidFill>
              </a:rPr>
              <a:t>▸ Full planning table sorted by urgency · Stock coverage histogram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41648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80760" y="4041648"/>
            <a:ext cx="566928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🚨 Risk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44568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292929"/>
                </a:solidFill>
              </a:rPr>
              <a:t>▸ Expandable CRITICAL / HIGH / WARNING / NORMAL sections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901184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80760" y="4901184"/>
            <a:ext cx="566928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🛒 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404104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292929"/>
                </a:solidFill>
              </a:rPr>
              <a:t>▸ Prioritized shopping list · CSV &amp; Excel download buttons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576072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80760" y="5760720"/>
            <a:ext cx="5669280" cy="411480"/>
          </a:xfrm>
          <a:prstGeom prst="roundRect">
            <a:avLst>
              <a:gd name="adj" fmla="val 4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250" b="1">
                <a:solidFill>
                  <a:srgbClr val="FFFFFF"/>
                </a:solidFill>
              </a:rPr>
              <a:t>📊 Stock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263640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292929"/>
                </a:solidFill>
              </a:rPr>
              <a:t>▸ NEW — Monthly IN vs OUT · Net movement · Top consumers · Replenishment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Dashboard — Charts &amp; Visuals at a Glance  (All 6 Pages)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1788323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Pie — Risk Distribution (CRITICAL/HIGH/WARNING/NORMAL share)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Bar — Procurement Priority counts (HIGH/MEDIUM/LOW)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22576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322576"/>
            <a:ext cx="1088136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268833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Line — Historical demand trend for selected item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Band chart — Forecast line + shaded confidence interval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27832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7B2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227832"/>
            <a:ext cx="10881360" cy="411480"/>
          </a:xfrm>
          <a:prstGeom prst="roundRect">
            <a:avLst>
              <a:gd name="adj" fmla="val 40000"/>
            </a:avLst>
          </a:prstGeom>
          <a:solidFill>
            <a:srgbClr val="7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Inventory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0273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Histogram — Stock-coverage-days distribution across all items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Items with 9999 coverage (no demand) filtered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33088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4133088"/>
            <a:ext cx="10881360" cy="411480"/>
          </a:xfrm>
          <a:prstGeom prst="roundRect">
            <a:avLst>
              <a:gd name="adj" fmla="val 4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Risk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36008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No charts — expandable color-coded tables grouped by risk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38344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038344"/>
            <a:ext cx="10881360" cy="411480"/>
          </a:xfrm>
          <a:prstGeom prst="roundRect">
            <a:avLst>
              <a:gd name="adj" fmla="val 4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41264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292929"/>
                </a:solidFill>
              </a:rPr>
              <a:t>▸ No charts — exportable shopping list with CSV &amp; Excel download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943600"/>
            <a:ext cx="10881360" cy="111556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5943600"/>
            <a:ext cx="10881360" cy="411480"/>
          </a:xfrm>
          <a:prstGeom prst="roundRect">
            <a:avLst>
              <a:gd name="adj" fmla="val 4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Stock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Grouped bar — Monthly IN (green) vs OUT (red) per item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Line chart — Net movement per month with break-even reference line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Horizontal bar — Top 15 most consumed items (all time)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dirty="0">
                <a:solidFill>
                  <a:srgbClr val="292929"/>
                </a:solidFill>
              </a:rPr>
              <a:t>▸ Pie — Replenishment health distribution across all 1,625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479" y="107658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457200" y="5239512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45736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758184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264408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70632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276856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All Columns &amp; Formulas —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Forecasting · PM Integration · Combined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92840" cy="384048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FORMULA /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forecast_date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37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Prophet future date (ds renamed)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37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Each future day being predicted (Day 1 to Day N of horizon)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22576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predicted_demand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31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Prophet yhat — model's best guess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31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Forecasted units needed on that specific future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16352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min_expected_demand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8254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Prophet yhat_lower — lower confidence 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8254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Lower edge of the confidence band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10128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max_expected_demand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319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Prophet yhat_upper — upper confidence bound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319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Upper edge of the confidence band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03904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horizon_days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813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User selection: 30 / 60 / 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813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How many future days the forecast covers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29768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forecast_demand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3068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SUM(predicted_demand) per item across all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Total forecasted demand over the full horizon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791456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pm_demand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800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Loaded from pm_demand_output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800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Extra demand from planned/preventive maintenance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85232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combined_projected_demand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2943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forecast_demand + pm_demand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2943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Total expected need — organic forecast PLUS planned 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457200" y="6021324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5550408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79492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608576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137660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666744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95828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24912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253996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FFFFFF"/>
                </a:solidFill>
              </a:rPr>
              <a:t>All Columns &amp; Formulas —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Inventory Planning Engine · Risk &amp; Alert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92840" cy="384048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FORMULA /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available_stock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37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MAX(id) per part from Stock_Register → new_stock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37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Latest stock on shelf — single static snapshot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3814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daily_avg_demand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088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forecast_demand ÷ horizon_days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088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Average units consumed per day over the horizon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70632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stock_coverage_days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7797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available_stock ÷ daily_avg_demand  (9999 if demand = 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7797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How many days current stock will last at average usage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41548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projected_shortfall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2506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available_stock − combined_projected_demand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506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Negative = expected shortage. Positive = surplus.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12464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safety_stock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721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forecast_demand × 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721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20% buffer on forecast demand — cushion for uncertainty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18338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7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recommended_reorder_qty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1925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MAX(0,  combined_projected_demand − available_stock)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925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Bare-minimum quantity to close the demand-stock gap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54296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7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final_reorder_qty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6634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recommended_reorder_qty + safety_stock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634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Actual suggested order quantity including safety buffer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25212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risk_indicator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1343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CRITICAL / HIGH / WARNING / NORMAL  (stock vs demand)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1343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Traffic-light risk label per item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596128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action_status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5605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Mapped from risk_indicator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605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Plain-English: CRITICAL_SHORTAGE / LOW_STOCK_WARNING / SUFFICIENT_STOCK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6067044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procurement_priority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60761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1F3B73"/>
                </a:solidFill>
              </a:rPr>
              <a:t>HIGH if CRITICAL  |  MEDIUM if HIGH or coverage&lt;30  |  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60761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Buying urgency label — directs effort to right items first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457200" y="5550408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79492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608576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137660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666744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95828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24912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253996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FFFFFF"/>
                </a:solidFill>
              </a:rPr>
              <a:t>All Columns &amp; Formulas —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Stock Movement Analysis — services/stock_movement.py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92840" cy="384048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FORMULA /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total_in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37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SUM(qty) WHERE in_out = 'IN'  per item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379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Total quantity received into stock in that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99716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total_out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088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SUM(qty) WHERE in_out = 'OUT'  per item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088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Total quantity consumed / issued from stock in that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70632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net_movement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7797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total_in − total_out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7797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Positive = surplus (more came in). Negative = deficit (more used than restocked)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41548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005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replenishment_ratio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2506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total_in ÷ total_out  (None if total_out = 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506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1.0 = balanced. &gt;1.0 = overstocked. &lt;1.0 = under-replenished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12464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active_months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721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COUNT(DISTINCT FORMAT(ts, 'yyyy-MM'))  per 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721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Number of months the item had at least one transaction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18338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avg_monthly_in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1925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total_in (all time) ÷ active_months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925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Average quantity received per active month, across all 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54296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avg_monthly_out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6634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total_out (all time) ÷ active_months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634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Average quantity consumed per active month, across all history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25212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avg_net_movement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1343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avg_monthly_in − avg_monthly_out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1343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Average monthly surplus or deficit — positive = building stock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596128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consumption_status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5605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B73"/>
                </a:solidFill>
              </a:rPr>
              <a:t>ratio&gt;=1.2→OVERSTOCKED | &gt;=0.9→BALANCED | &gt;=0.6→UNDER | &lt;0.6→CRITICALLY 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6052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92929"/>
                </a:solidFill>
              </a:rPr>
              <a:t>Health label — is replenishment keeping pace with consumption?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Forecast Accuracy — MAE, RMSE &amp; MAPE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9E6F5"/>
                </a:solidFill>
              </a:rPr>
              <a:t>Built-in trust meter for every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92929"/>
                </a:solidFill>
              </a:rPr>
              <a:t>Each item's model is trained on the older 80% of its history, tested against the newer 20% it has never seen: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352044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MAE  —  Mean Absolute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92929"/>
                </a:solidFill>
              </a:rPr>
              <a:t>▸ Average miss in real units (e.g. off by ~2 parts on average)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92929"/>
                </a:solidFill>
              </a:rPr>
              <a:t>▸ Lower = more accurate / trustworthy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52044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RMSE  —  Root Mean Squared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92929"/>
                </a:solidFill>
              </a:rPr>
              <a:t>▸ Like MAE but penalizes big misses harder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92929"/>
                </a:solidFill>
              </a:rPr>
              <a:t>▸ Lower = more accurate / trustworthy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520440" cy="411480"/>
          </a:xfrm>
          <a:prstGeom prst="roundRect">
            <a:avLst>
              <a:gd name="adj" fmla="val 4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350" b="1">
                <a:solidFill>
                  <a:srgbClr val="FFFFFF"/>
                </a:solidFill>
              </a:rPr>
              <a:t>MAPE  —  Mean Absolute Percentage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78892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92929"/>
                </a:solidFill>
              </a:rPr>
              <a:t>▸ Average miss as a % — comparable across different items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>
                <a:solidFill>
                  <a:srgbClr val="292929"/>
                </a:solidFill>
              </a:rPr>
              <a:t>▸ Lower = more accurate / trustworthy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292929"/>
                </a:solidFill>
              </a:rPr>
              <a:t>Displayed alongside the forecast on the Forecasting page — giving planners an honest answer to: "How much should I trust this prediction?"</a:t>
            </a: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292929"/>
                </a:solidFill>
              </a:rPr>
              <a:t>Items with fewer than 15 rows of history show N/A — not enough data to split meaningfully.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Feature 9 — Outputs, Exports &amp;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440680" cy="2377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Exports for the Procurement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Downloadable CSV of the prioritized procurement list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Downloadable Excel (.xlsx) version generated with openpyxl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Pre-filtered to items needing reorder, grouped HIGH → MEDIUM → 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440680" cy="2377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Logging — Full Pipeline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Every pipeline run logged: items processed, forecasts, risk summary, execution time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Daily rotating log files (pipeline_YYYY-MM-DD.log)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Errors and warnings captured for easy debugging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1106424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500" b="1">
                <a:solidFill>
                  <a:srgbClr val="FFFFFF"/>
                </a:solidFill>
              </a:rPr>
              <a:t>Database Round-Trip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forecast_output table replaced each pipeline run with fresh results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Stock_Register read two ways: latest snapshot for planning · full history for Stock Movement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92929"/>
                </a:solidFill>
              </a:rPr>
              <a:t>▸ Closes the loop: raw data in → forecasts &amp; plans out → results saved back to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</a:rPr>
              <a:t>Key Benefits &amp; Closing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D62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Reduced Shortages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Early-warning risk signals flag items before they run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Less Overstocking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Reorder quantities capped to the actual gap plus a sensible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9067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FF7F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090672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Smarter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93592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Priority labels help the team focus limited budget where it matters most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90672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09360" y="3090672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Confidence in Forecasts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93592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MAE/RMSE/MAPE let planners know how much to trust each prediction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18304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Plan for the Unexpected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21224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Scenario analysis stress-tests plans against demand spikes or PM surges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718304"/>
            <a:ext cx="5440680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00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4718304"/>
            <a:ext cx="5440680" cy="411480"/>
          </a:xfrm>
          <a:prstGeom prst="roundRect">
            <a:avLst>
              <a:gd name="adj" fmla="val 40000"/>
            </a:avLst>
          </a:prstGeom>
          <a:solidFill>
            <a:srgbClr val="007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tlCol="0" anchor="ctr"/>
          <a:lstStyle/>
          <a:p>
            <a:pPr algn="l"/>
            <a:r>
              <a:rPr sz="1400" b="1">
                <a:solidFill>
                  <a:srgbClr val="FFFFFF"/>
                </a:solidFill>
              </a:rPr>
              <a:t>Historical Pattern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21224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>
                <a:solidFill>
                  <a:srgbClr val="292929"/>
                </a:solidFill>
              </a:rPr>
              <a:t>▸ Stock Movement reveals 7 years of IN/OUT trends — replenishment health for 1,625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PE Inventory Forecasting &amp; Planning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D9E6F5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7F0E"/>
                </a:solidFill>
              </a:rPr>
              <a:t>PE Inventory Forecasting &amp; Planning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3838</TotalTime>
  <Words>3200</Words>
  <Application>Microsoft Office PowerPoint</Application>
  <PresentationFormat>Widescreen</PresentationFormat>
  <Paragraphs>389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vivekpramanik.dev@gmail.com</cp:lastModifiedBy>
  <cp:revision>9</cp:revision>
  <dcterms:created xsi:type="dcterms:W3CDTF">2013-01-27T09:14:16Z</dcterms:created>
  <dcterms:modified xsi:type="dcterms:W3CDTF">2026-06-12T04:31:50Z</dcterms:modified>
  <cp:category/>
</cp:coreProperties>
</file>